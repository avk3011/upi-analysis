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7" r:id="rId19"/>
    <p:sldId id="276" r:id="rId20"/>
    <p:sldId id="281" r:id="rId21"/>
    <p:sldId id="280" r:id="rId22"/>
    <p:sldId id="282" r:id="rId23"/>
    <p:sldId id="283" r:id="rId24"/>
    <p:sldId id="284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65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84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15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80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38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7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05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95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57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19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70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947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52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129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146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78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83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1ABD44-D3F2-4B1A-A4D5-B9CED46460BE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CCB05B-A409-4139-95D1-EE3DB24F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8C32-E86B-AE1E-BA1E-17535F719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6242" y="1887086"/>
            <a:ext cx="7267978" cy="1515533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Payments Interface (UPI): Evolution and Market Dynamics (2022–2025)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DD8C5-1F82-B3D0-AEF1-DEE0E46E9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6" y="3842235"/>
            <a:ext cx="6815669" cy="1320802"/>
          </a:xfrm>
        </p:spPr>
        <p:txBody>
          <a:bodyPr/>
          <a:lstStyle/>
          <a:p>
            <a:r>
              <a:rPr lang="en-US" b="1" dirty="0"/>
              <a:t>Analyzing the Growth, Competition, and Future of India's Digital Payments Ecosystem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00134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9486-5BF5-0B97-F597-6652BB41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2022: Establishing Dominance and Market Structure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42F1-7469-E456-1615-5E82B139E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UPI transactions </a:t>
            </a:r>
            <a:r>
              <a:rPr lang="en-US" sz="2000" b="1" dirty="0"/>
              <a:t>surpassed the </a:t>
            </a:r>
            <a:r>
              <a:rPr lang="en-US" sz="2000" b="1" dirty="0" smtClean="0"/>
              <a:t>mark</a:t>
            </a:r>
            <a:r>
              <a:rPr lang="en-US" sz="2000" dirty="0" smtClean="0"/>
              <a:t>, </a:t>
            </a:r>
            <a:r>
              <a:rPr lang="en-US" sz="2000" dirty="0"/>
              <a:t>establishing its status as the most popular digital payment method. </a:t>
            </a:r>
          </a:p>
          <a:p>
            <a:r>
              <a:rPr lang="en-US" sz="2000" dirty="0"/>
              <a:t> A seasonal dip in transaction volume is a </a:t>
            </a:r>
            <a:r>
              <a:rPr lang="en-US" sz="2000" b="1" dirty="0"/>
              <a:t>common trend for UPI</a:t>
            </a:r>
            <a:r>
              <a:rPr lang="en-US" sz="2000" dirty="0"/>
              <a:t> in February due to fewer days.</a:t>
            </a:r>
          </a:p>
          <a:p>
            <a:r>
              <a:rPr lang="en-US" sz="2000" dirty="0"/>
              <a:t> The year saw the clear emergence of a </a:t>
            </a:r>
            <a:r>
              <a:rPr lang="en-US" sz="2000" b="1" dirty="0"/>
              <a:t>duopoly</a:t>
            </a:r>
            <a:r>
              <a:rPr lang="en-US" sz="2000" dirty="0"/>
              <a:t> with </a:t>
            </a:r>
            <a:r>
              <a:rPr lang="en-US" sz="2000" b="1" dirty="0" err="1"/>
              <a:t>PhonePe</a:t>
            </a:r>
            <a:r>
              <a:rPr lang="en-US" sz="2000" b="1" dirty="0"/>
              <a:t> </a:t>
            </a:r>
            <a:r>
              <a:rPr lang="en-US" sz="2000" dirty="0"/>
              <a:t>and</a:t>
            </a:r>
            <a:r>
              <a:rPr lang="en-US" sz="2000" b="1" dirty="0"/>
              <a:t> Google Pay</a:t>
            </a:r>
            <a:r>
              <a:rPr lang="en-US" sz="2000" dirty="0"/>
              <a:t> consolidating their dominance. This pushed </a:t>
            </a:r>
            <a:r>
              <a:rPr lang="en-US" sz="2000" b="1" dirty="0"/>
              <a:t>Paytm </a:t>
            </a:r>
            <a:r>
              <a:rPr lang="en-US" sz="2000" dirty="0"/>
              <a:t>firmly into the third position.</a:t>
            </a:r>
          </a:p>
          <a:p>
            <a:r>
              <a:rPr lang="en-US" sz="2000" dirty="0"/>
              <a:t> The intense competition drove major apps to focus heavily on </a:t>
            </a:r>
            <a:r>
              <a:rPr lang="en-US" sz="2000" b="1" dirty="0"/>
              <a:t>merchant adoption (P2M transactions)</a:t>
            </a:r>
            <a:r>
              <a:rPr lang="en-US" sz="2000" dirty="0"/>
              <a:t> and </a:t>
            </a:r>
            <a:r>
              <a:rPr lang="en-US" sz="2000" b="1" dirty="0"/>
              <a:t>user experience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0891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EE16-A2BB-2D2D-11B4-04E6E6E9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dirty="0"/>
              <a:t>2022: Adoption &amp; Infrastructure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2685A-CBE9-34C5-48CF-9E2ADC1D9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000" b="1" dirty="0"/>
              <a:t>BHIM</a:t>
            </a:r>
            <a:r>
              <a:rPr lang="en-US" sz="2000" dirty="0"/>
              <a:t> and small </a:t>
            </a:r>
            <a:r>
              <a:rPr lang="en-US" sz="2000" dirty="0" err="1"/>
              <a:t>fintechs</a:t>
            </a:r>
            <a:r>
              <a:rPr lang="en-US" sz="2000" dirty="0"/>
              <a:t> (like Bharat Interface and </a:t>
            </a:r>
            <a:r>
              <a:rPr lang="en-US" sz="2000" dirty="0" err="1"/>
              <a:t>PayNearby</a:t>
            </a:r>
            <a:r>
              <a:rPr lang="en-US" sz="2000" dirty="0"/>
              <a:t>) gained traction in </a:t>
            </a:r>
            <a:r>
              <a:rPr lang="en-US" sz="2000" b="1" dirty="0"/>
              <a:t>Tier 2–Tier 3 cities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/>
              <a:t>QR code interoperability</a:t>
            </a:r>
            <a:r>
              <a:rPr lang="en-US" sz="2000" dirty="0"/>
              <a:t> improved ease of use for merchants. </a:t>
            </a:r>
          </a:p>
          <a:p>
            <a:r>
              <a:rPr lang="en-US" sz="2000" dirty="0"/>
              <a:t> The </a:t>
            </a:r>
            <a:r>
              <a:rPr lang="en-US" sz="2000" b="1" dirty="0"/>
              <a:t>zero MDR (Merchant Discount Rate) policy</a:t>
            </a:r>
            <a:r>
              <a:rPr lang="en-US" sz="2000" dirty="0"/>
              <a:t> further boosted merchant acceptance.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9288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3AE1-1573-008A-B634-ECB362F6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615" y="973340"/>
            <a:ext cx="9788767" cy="1303867"/>
          </a:xfrm>
        </p:spPr>
        <p:txBody>
          <a:bodyPr>
            <a:noAutofit/>
          </a:bodyPr>
          <a:lstStyle/>
          <a:p>
            <a:r>
              <a:rPr lang="en-US" b="1" dirty="0"/>
              <a:t>2023: Growth Drivers and Internal Focus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D9C5A-E876-EF56-82F5-EBC8F6AC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Increased transaction frequency is attributed to the strategic rollout of </a:t>
            </a:r>
            <a:r>
              <a:rPr lang="en-US" sz="2400" b="1" dirty="0"/>
              <a:t>new features</a:t>
            </a:r>
            <a:r>
              <a:rPr lang="en-US" sz="2400" dirty="0"/>
              <a:t>.  Notable new features include </a:t>
            </a:r>
            <a:r>
              <a:rPr lang="en-US" sz="2400" b="1" dirty="0"/>
              <a:t>UPI Lite X</a:t>
            </a:r>
            <a:r>
              <a:rPr lang="en-US" sz="2400" dirty="0"/>
              <a:t> and </a:t>
            </a:r>
            <a:r>
              <a:rPr lang="en-US" sz="2400" b="1" dirty="0"/>
              <a:t>Credit Line on UPI</a:t>
            </a:r>
            <a:r>
              <a:rPr lang="en-US" sz="2400" dirty="0"/>
              <a:t>.</a:t>
            </a:r>
          </a:p>
          <a:p>
            <a:r>
              <a:rPr lang="en-US" sz="2400" dirty="0"/>
              <a:t> </a:t>
            </a:r>
            <a:r>
              <a:rPr lang="en-US" sz="2400" b="1" dirty="0"/>
              <a:t>Investment Focus:</a:t>
            </a:r>
            <a:r>
              <a:rPr lang="en-US" sz="2400" dirty="0"/>
              <a:t> Continuous infrastructure investment and </a:t>
            </a:r>
            <a:r>
              <a:rPr lang="en-US" sz="2400" b="1" dirty="0"/>
              <a:t>capacity planning</a:t>
            </a:r>
            <a:r>
              <a:rPr lang="en-US" sz="2400" dirty="0"/>
              <a:t> are mandatory to maintain a </a:t>
            </a:r>
            <a:r>
              <a:rPr lang="en-US" sz="2400" b="1" dirty="0"/>
              <a:t>100% service uptime</a:t>
            </a:r>
            <a:r>
              <a:rPr lang="en-US" sz="2400" dirty="0"/>
              <a:t> commitment. This is especially crucial to handle the anticipated spike in </a:t>
            </a:r>
            <a:r>
              <a:rPr lang="en-US" sz="2400" b="1" dirty="0"/>
              <a:t>Q4 transaction volume</a:t>
            </a:r>
            <a:r>
              <a:rPr lang="en-US" sz="2400" dirty="0"/>
              <a:t>. </a:t>
            </a:r>
          </a:p>
          <a:p>
            <a:r>
              <a:rPr lang="en-US" sz="2400" b="1" dirty="0"/>
              <a:t>Marketing Focus:</a:t>
            </a:r>
            <a:r>
              <a:rPr lang="en-US" sz="2400" dirty="0"/>
              <a:t> Aggressive </a:t>
            </a:r>
            <a:r>
              <a:rPr lang="en-US" sz="2400" b="1" dirty="0"/>
              <a:t>user adoption</a:t>
            </a:r>
            <a:r>
              <a:rPr lang="en-US" sz="2400" dirty="0"/>
              <a:t> efforts were evident throughout the year.</a:t>
            </a:r>
          </a:p>
          <a:p>
            <a:r>
              <a:rPr lang="en-US" sz="2400" dirty="0"/>
              <a:t> The rising volume and value mandated immediate scaling of </a:t>
            </a:r>
            <a:r>
              <a:rPr lang="en-US" sz="2400" b="1" dirty="0"/>
              <a:t>security and fraud monitoring systems</a:t>
            </a:r>
            <a:r>
              <a:rPr lang="en-US" sz="2400" dirty="0"/>
              <a:t>. </a:t>
            </a:r>
          </a:p>
          <a:p>
            <a:r>
              <a:rPr lang="en-US" sz="2400" dirty="0"/>
              <a:t> This was due to the proportional increase in </a:t>
            </a:r>
            <a:r>
              <a:rPr lang="en-US" sz="2400" b="1" dirty="0"/>
              <a:t>fraud loss potential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101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5E98-A609-FB1C-EA95-59FE9AD1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2024: The Regulatory Shockwave (Paytm Crisis)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0FC40-831E-9610-2C53-9372ED1AD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 The RBI initiated severe regulatory action against </a:t>
            </a:r>
            <a:r>
              <a:rPr lang="en-US" sz="2000" b="1" dirty="0"/>
              <a:t>Paytm Payments Bank (PPBL)</a:t>
            </a:r>
            <a:r>
              <a:rPr lang="en-US" sz="2000" dirty="0"/>
              <a:t> in early 2024. Citing </a:t>
            </a:r>
            <a:r>
              <a:rPr lang="en-US" sz="2000" b="1" dirty="0"/>
              <a:t>chronic non-compliance</a:t>
            </a:r>
            <a:r>
              <a:rPr lang="en-US" sz="2000" dirty="0"/>
              <a:t> and critical lapses in </a:t>
            </a:r>
            <a:r>
              <a:rPr lang="en-US" sz="2000" b="1" dirty="0"/>
              <a:t>KYC and governance protocols.</a:t>
            </a:r>
          </a:p>
          <a:p>
            <a:r>
              <a:rPr lang="en-US" sz="2000" b="1" dirty="0"/>
              <a:t> </a:t>
            </a:r>
            <a:r>
              <a:rPr lang="en-US" sz="2000" dirty="0"/>
              <a:t>PPBL was prohibited from accepting new deposits or top-ups after March 15, 2024. The crisis </a:t>
            </a:r>
            <a:r>
              <a:rPr lang="en-US" sz="2000" b="1" dirty="0"/>
              <a:t>crippled its banking services</a:t>
            </a:r>
            <a:r>
              <a:rPr lang="en-US" sz="2000" dirty="0"/>
              <a:t> and mandated an urgent shift of its core UPI and payment services to </a:t>
            </a:r>
            <a:r>
              <a:rPr lang="en-US" sz="2000" b="1" dirty="0"/>
              <a:t>external banking partners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624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03B4-1D1F-1993-8FBE-B98EB904F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2025: Full Recovery and Future Trends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7436-9283-AECE-6C0A-8694FE92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Transaction volume and value </a:t>
            </a:r>
            <a:r>
              <a:rPr lang="en-US" sz="2000" b="1" dirty="0"/>
              <a:t>continue their upward trend</a:t>
            </a:r>
            <a:r>
              <a:rPr lang="en-US" sz="2000" dirty="0"/>
              <a:t>. This indicates the ecosystem has </a:t>
            </a:r>
            <a:r>
              <a:rPr lang="en-US" sz="2000" b="1" dirty="0"/>
              <a:t>fully recovered</a:t>
            </a:r>
            <a:r>
              <a:rPr lang="en-US" sz="2000" dirty="0"/>
              <a:t> from the 2024 shock. Growth is fueled by successful market reallocation and </a:t>
            </a:r>
            <a:r>
              <a:rPr lang="en-US" sz="2000" b="1" dirty="0"/>
              <a:t>ongoing feature innovation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/>
              <a:t>WhatsApp Pay</a:t>
            </a:r>
            <a:r>
              <a:rPr lang="en-US" sz="2000" dirty="0"/>
              <a:t> and </a:t>
            </a:r>
            <a:r>
              <a:rPr lang="en-US" sz="2000" b="1" dirty="0"/>
              <a:t>CRED Pay 2.0</a:t>
            </a:r>
            <a:r>
              <a:rPr lang="en-US" sz="2000" dirty="0"/>
              <a:t> entered the mainstream. They are focusing on distinct </a:t>
            </a:r>
            <a:r>
              <a:rPr lang="en-US" sz="2000" b="1" dirty="0"/>
              <a:t>market niches</a:t>
            </a:r>
            <a:r>
              <a:rPr lang="en-US" sz="2000" dirty="0"/>
              <a:t>.</a:t>
            </a:r>
          </a:p>
          <a:p>
            <a:r>
              <a:rPr lang="en-US" sz="2000" dirty="0"/>
              <a:t> There is a notable rise of </a:t>
            </a:r>
            <a:r>
              <a:rPr lang="en-US" sz="2000" b="1" dirty="0"/>
              <a:t>tokenized and biometric payments</a:t>
            </a:r>
            <a:r>
              <a:rPr lang="en-US" sz="2000" dirty="0"/>
              <a:t> for added security.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05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E305-17F2-2FF6-838A-CBFDE4F1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1F40-87B3-AD16-33E7-EED8A5111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495" y="1791999"/>
            <a:ext cx="7677474" cy="1515533"/>
          </a:xfrm>
        </p:spPr>
        <p:txBody>
          <a:bodyPr>
            <a:normAutofit fontScale="90000"/>
          </a:bodyPr>
          <a:lstStyle/>
          <a:p>
            <a:r>
              <a:rPr lang="en-IN" dirty="0"/>
              <a:t>Geographical Dynamics of </a:t>
            </a:r>
            <a:r>
              <a:rPr lang="en-IN" dirty="0" smtClean="0"/>
              <a:t>UPI </a:t>
            </a:r>
            <a:r>
              <a:rPr lang="en-US" b="1" dirty="0" smtClean="0"/>
              <a:t>(2022–2025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B37D9-B3BC-1E8A-3E6D-065344406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Analyzing the Growth, Competition, and Future of India's Digital Payments Ecosystem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146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F0E9-BE95-B554-716C-C92E5931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1" y="982132"/>
            <a:ext cx="11069515" cy="1303867"/>
          </a:xfrm>
        </p:spPr>
        <p:txBody>
          <a:bodyPr>
            <a:noAutofit/>
          </a:bodyPr>
          <a:lstStyle/>
          <a:p>
            <a:r>
              <a:rPr lang="en-US" b="1" dirty="0"/>
              <a:t>1. Economic Activity is Highly Concentrated (Value)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A43D-C943-071D-C03F-A80F22863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Dominance of Financial Hubs: Maharashtra, Karnataka, and Telangana consistently dominate the rankings by Transaction Value (₹ crore), which is expected as they host major financial and IT hubs.</a:t>
            </a:r>
          </a:p>
          <a:p>
            <a:r>
              <a:rPr lang="en-US" sz="2000" dirty="0"/>
              <a:t>Geographic Concentration: Southern and Western states show the highest transaction values, indicating that digital payment infrastructure and economic power are significantly concentrated in fewer states (likely exceeding 60–70% of the national total).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1687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A148-5F13-BEC1-0C5F-02EEE8AD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Volume Reflects Widespread Adoption (Count)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07545-2A2B-4EE1-EEF6-96847221A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Small-Value Transactions: Transaction Volume (count) indicates widespread digital adoption, particularly through many small-value transactions.</a:t>
            </a:r>
          </a:p>
          <a:p>
            <a:r>
              <a:rPr lang="en-US" sz="2000" dirty="0"/>
              <a:t>Populous State Impact: Populous states like Uttar Pradesh may rank higher in transaction volume but lower in total value, highlighting a focus on the count of transactions rather than the cumulative monetary size.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766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EE4B-5B59-3B75-A6A2-887DC566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Value and Volume are Correlated, but Different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1BEF3-1F32-0996-407A-504FE9CBD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Positive Correlation: There is a general upward trend between volume and value, suggesting states with more transactions tend to have a higher total value.</a:t>
            </a:r>
          </a:p>
          <a:p>
            <a:r>
              <a:rPr lang="en-US" sz="2000" dirty="0"/>
              <a:t>Outliers Exist: Outliers like Maharashtra or Telangana may show disproportionately high transaction values, indicating that business-related payments (high-value but fewer transactions) are a key driver in these states.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3836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91E8-4ABA-1908-A9C8-3FED86FB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Consistent National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42B91-DC89-5682-7B7E-1DBDE1B4E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Steady Adoption: Growth trends over time suggest a steady nationwide adoption of digital payment systems.</a:t>
            </a:r>
          </a:p>
          <a:p>
            <a:r>
              <a:rPr lang="en-US" sz="2000" dirty="0"/>
              <a:t>Targeted Improvement: State-wise trends are valuable for identifying lagging states, which could be the focus of targeted improvement programs for digital payment infrastructure.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5897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C137-A6C5-E198-7AE4-0C70547C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A15E-28BE-4A2F-F6CF-E8C7595D0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378" y="1871131"/>
            <a:ext cx="7195690" cy="1515533"/>
          </a:xfrm>
        </p:spPr>
        <p:txBody>
          <a:bodyPr>
            <a:normAutofit fontScale="90000"/>
          </a:bodyPr>
          <a:lstStyle/>
          <a:p>
            <a:r>
              <a:rPr lang="en-US" dirty="0"/>
              <a:t>UPI's Impact on Direct Tax Collection (2018–2023)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45A74-3F16-336E-EF91-DDE8491F47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2976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AA88-8AA0-D480-624E-74050677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Digitization Driving Compliance and Growth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4424-8141-796A-9A58-C6E586DE3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Correlation with UPI Adoption: A steady growth in direct tax collection has been observed after 2021, coinciding with widespread UPI adoption.</a:t>
            </a:r>
          </a:p>
          <a:p>
            <a:r>
              <a:rPr lang="en-US" sz="2000" dirty="0"/>
              <a:t>Improved Transparency: This growth reflects improved transaction transparency and reporting due to digitization.</a:t>
            </a:r>
          </a:p>
          <a:p>
            <a:r>
              <a:rPr lang="en-US" sz="2000" dirty="0"/>
              <a:t>Sharp Growth Spike: The Year-over-Year (YoY) growth spiked sharply post-2021, suggesting that digital traceability has encouraged better tax compliance.</a:t>
            </a:r>
          </a:p>
          <a:p>
            <a:r>
              <a:rPr lang="en-US" sz="2000" dirty="0"/>
              <a:t>Sustained Improvement: The average growth rate between 2022–2024 remains positive, indicating a sustained improvement in fiscal reporting.</a:t>
            </a:r>
            <a:endParaRPr lang="en-IN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74C07B-23D7-FE4E-03B0-680327B154A5}"/>
              </a:ext>
            </a:extLst>
          </p:cNvPr>
          <p:cNvSpPr txBox="1">
            <a:spLocks/>
          </p:cNvSpPr>
          <p:nvPr/>
        </p:nvSpPr>
        <p:spPr>
          <a:xfrm>
            <a:off x="919119" y="2135393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279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05CC-82EE-8EF6-C288-5A3D6AEB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Collection Resilience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1B799-AF4D-79F2-ADBF-C7A91967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Pandemic Recovery: While 2020–2021 saw a temporary dip (likely pandemic-related), collections recovered quickly and exceeded pre-pandemic levels.</a:t>
            </a:r>
          </a:p>
          <a:p>
            <a:r>
              <a:rPr lang="en-US" sz="2000" dirty="0"/>
              <a:t>Varied Pace: Minor fluctuations highlight that the overall tax revenue grew, but the pace of increase varied due to regional and economic factors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16961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D3C3-B3DE-468F-751D-D1C3B4F0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3. Conclusion: Indirect Boost to Tax Performance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E6BE-445E-160B-8FC2-797AF784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Efficiency Boost: UPI’s integration has indirectly boosted direct tax performance.</a:t>
            </a:r>
          </a:p>
          <a:p>
            <a:r>
              <a:rPr lang="en-US" sz="2000" dirty="0"/>
              <a:t>Key Contributions: Enhanced transaction visibility, reduced cash dependency, and better audit trails have likely contributed to greater tax compliance and collection efficiency.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73778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14CA-84C6-8F34-9600-37CE4765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4696-DE33-9FF3-3077-FDF577A91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UPI Transaction Volume by Category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81748-E8F5-78BA-14DF-15A58E4EC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8030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FAA0-1B89-8960-C127-E3B45AA7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1. Festive &amp; Seasonal Spikes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F5AD-D182-C37F-F550-528864633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Groceries &amp; Supermarkets (Spike in March 2025): </a:t>
            </a:r>
            <a:r>
              <a:rPr lang="en-US" sz="2000" dirty="0"/>
              <a:t>The spike was driven by the combination of festive season purchases (Ramadan + Holi) and the End-of-quarter salary week. UPI transactions hit a new high in March 2025, fueled by these festive season purchases and salary credit.</a:t>
            </a:r>
          </a:p>
          <a:p>
            <a:r>
              <a:rPr lang="en-US" sz="2000" b="1" dirty="0"/>
              <a:t>Fast Food Restaurants (Spike in November 2023): </a:t>
            </a:r>
            <a:r>
              <a:rPr lang="en-US" sz="2000" dirty="0"/>
              <a:t>This spike was fueled by the ICC Cricket World Cup 2023 (specifically the India vs Pakistan match) and Diwali week. UPI orders on food-delivery apps jumped 68% during the India-Pakistan match day alone.</a:t>
            </a:r>
          </a:p>
          <a:p>
            <a:r>
              <a:rPr lang="en-US" sz="2000" b="1" dirty="0"/>
              <a:t>Bakeries (Inflection in Oct-24): </a:t>
            </a:r>
            <a:r>
              <a:rPr lang="en-US" sz="2000" dirty="0"/>
              <a:t>The inflection was triggered by the “50-day Diwali pre-order window” opened by companies like ITC Foods and Bisk-farm. This required 100% advance payment only through UPI-QR to franchise bakers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36748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4C6E-E6FE-EB50-55A5-249F53ED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Promotional &amp; Policy-Driven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111E1-9F02-CFE6-107F-BCA1A917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Service Stations (All-time high in Oct-24): </a:t>
            </a:r>
            <a:r>
              <a:rPr lang="en-US" dirty="0"/>
              <a:t>This record transaction volume was driven by the HPCL “UPI-Only Saturdays” campaign. The campaign offered 1% cash-back up to ₹50 with no minimum ticket.</a:t>
            </a:r>
          </a:p>
          <a:p>
            <a:r>
              <a:rPr lang="en-US" b="1" dirty="0"/>
              <a:t>Digital Goods: Games (Spike in April 2024): </a:t>
            </a:r>
            <a:r>
              <a:rPr lang="en-US" dirty="0"/>
              <a:t>The surge in UPI payments for gaming (up 42% MoM) coincided with the BGMI (Battlegrounds Mobile India) comeback and IPL 2024 in-app purchases.</a:t>
            </a:r>
          </a:p>
          <a:p>
            <a:r>
              <a:rPr lang="en-US" b="1" dirty="0"/>
              <a:t>Utilities (Spike in July 2024):</a:t>
            </a:r>
            <a:r>
              <a:rPr lang="en-US" dirty="0"/>
              <a:t> The spike was caused by the heat-wave and record AC usage , coupled with the Delhi Govt’s “free power” reimbursement via UPI. 38% of bill reimbursements were done through UPI.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010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07FF-590B-85F3-03A6-B8CF3C02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Regulatory &amp; Economic Disruption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FE52-4B50-7EF6-550C-4B33DD47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Telecommunication Services (Dip in February 2025): </a:t>
            </a:r>
            <a:r>
              <a:rPr lang="en-US" dirty="0"/>
              <a:t>The dip was caused by Jio &amp; Airtel tariff hikes effective 1 Feb 2025. This prompted users to postpone recharges, leading to UPI recharges for telcos falling 11% MoM.</a:t>
            </a:r>
          </a:p>
          <a:p>
            <a:r>
              <a:rPr lang="en-US" b="1" dirty="0"/>
              <a:t>Department Stores (Collapse after Mar-24): </a:t>
            </a:r>
            <a:r>
              <a:rPr lang="en-US" dirty="0"/>
              <a:t>The collapse was triggered by the RBI’s incremental CRR hike of 10% on consumer-finance NBFCs (6-Apr-24). This instantly cut 0% EMI card offers, causing UPI-down-volume to drop -38% YoY.</a:t>
            </a:r>
          </a:p>
          <a:p>
            <a:r>
              <a:rPr lang="en-US" b="1" dirty="0"/>
              <a:t>Eating Places &amp; Restaurants (Value High, Volume Lower in Oct-24): </a:t>
            </a:r>
            <a:r>
              <a:rPr lang="en-US" dirty="0"/>
              <a:t>The high value was due to ticket-size inflation rather than increased foot-fall. This was influenced by the service-charge ban enforcement (July 2024), which forced upscale restaurants to push a 10% “staff tip” as a separate UPI collect </a:t>
            </a:r>
            <a:r>
              <a:rPr lang="en-US" dirty="0" smtClean="0"/>
              <a:t>request, average ticket rose 18%.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76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4792" y="1756831"/>
            <a:ext cx="7869116" cy="1515533"/>
          </a:xfrm>
        </p:spPr>
        <p:txBody>
          <a:bodyPr/>
          <a:lstStyle/>
          <a:p>
            <a:r>
              <a:rPr lang="en-US" sz="4000" b="1" dirty="0"/>
              <a:t>Business Opportunities Emerging from UPI Trends (2022–2025)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4409" y="3657597"/>
            <a:ext cx="6708530" cy="1320802"/>
          </a:xfrm>
        </p:spPr>
        <p:txBody>
          <a:bodyPr/>
          <a:lstStyle/>
          <a:p>
            <a:r>
              <a:rPr lang="fr-FR" dirty="0" smtClean="0"/>
              <a:t>Merchant Services</a:t>
            </a:r>
            <a:r>
              <a:rPr lang="fr-FR" dirty="0"/>
              <a:t> </a:t>
            </a:r>
            <a:r>
              <a:rPr lang="fr-FR" dirty="0" smtClean="0"/>
              <a:t>| </a:t>
            </a:r>
            <a:r>
              <a:rPr lang="fr-FR" dirty="0" err="1" smtClean="0"/>
              <a:t>Regional</a:t>
            </a:r>
            <a:r>
              <a:rPr lang="fr-FR" dirty="0" smtClean="0"/>
              <a:t> Expansion</a:t>
            </a:r>
            <a:r>
              <a:rPr lang="fr-FR" dirty="0"/>
              <a:t> </a:t>
            </a:r>
            <a:r>
              <a:rPr lang="fr-FR" dirty="0" smtClean="0"/>
              <a:t>| </a:t>
            </a:r>
            <a:r>
              <a:rPr lang="fr-FR" dirty="0" err="1" smtClean="0"/>
              <a:t>Tax</a:t>
            </a:r>
            <a:r>
              <a:rPr lang="fr-FR" dirty="0" smtClean="0"/>
              <a:t> Compliance</a:t>
            </a:r>
            <a:r>
              <a:rPr lang="fr-FR" dirty="0"/>
              <a:t> </a:t>
            </a:r>
            <a:r>
              <a:rPr lang="fr-FR" dirty="0" smtClean="0"/>
              <a:t>| Event Commerce</a:t>
            </a:r>
            <a:r>
              <a:rPr lang="fr-FR" dirty="0"/>
              <a:t> </a:t>
            </a:r>
            <a:r>
              <a:rPr lang="fr-FR" dirty="0" smtClean="0"/>
              <a:t>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012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UPI Aggregator for SMEs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46739"/>
            <a:ext cx="1025864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Problem: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000" dirty="0"/>
              <a:t>Merchants struggle to manage multiple UPI apps (</a:t>
            </a:r>
            <a:r>
              <a:rPr lang="en-US" sz="2000" dirty="0" err="1"/>
              <a:t>PhonePe</a:t>
            </a:r>
            <a:r>
              <a:rPr lang="en-US" sz="2000" dirty="0"/>
              <a:t>, </a:t>
            </a:r>
            <a:r>
              <a:rPr lang="en-US" sz="2000" dirty="0" err="1"/>
              <a:t>GPay</a:t>
            </a:r>
            <a:r>
              <a:rPr lang="en-US" sz="2000" dirty="0"/>
              <a:t>, </a:t>
            </a:r>
            <a:r>
              <a:rPr lang="en-US" sz="2000" dirty="0" err="1"/>
              <a:t>Paytm</a:t>
            </a:r>
            <a:r>
              <a:rPr lang="en-US" sz="2000" dirty="0"/>
              <a:t>, WhatsApp Pay</a:t>
            </a:r>
            <a:r>
              <a:rPr lang="en-US" sz="2000" dirty="0" smtClean="0"/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 smtClean="0"/>
              <a:t>Lack </a:t>
            </a:r>
            <a:r>
              <a:rPr lang="en-US" sz="2000" dirty="0"/>
              <a:t>of unified analytics and micro-credit </a:t>
            </a:r>
            <a:r>
              <a:rPr lang="en-US" sz="2000" dirty="0" smtClean="0"/>
              <a:t>options.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Insight: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Duopoly dominance + Credit Line on UPI → fragmented but high-growth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Solution: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Unified dashboard for merchants.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Multi-app payment tracking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Customer analytics &amp; loyalty insights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Instant micro-credit (via UPI credit lines)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2843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Regional Fintech Expansion-as-a-Service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369740"/>
            <a:ext cx="940751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Problem:</a:t>
            </a:r>
            <a:r>
              <a:rPr lang="en-US" sz="2000" dirty="0"/>
              <a:t> High transaction value concentrated in financial hubs; Tier-2/3 cities lag in digital </a:t>
            </a:r>
            <a:endParaRPr lang="en-US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 smtClean="0"/>
              <a:t> payment value </a:t>
            </a:r>
            <a:r>
              <a:rPr lang="en-US" sz="2000" dirty="0"/>
              <a:t>despite volume growth</a:t>
            </a:r>
            <a:r>
              <a:rPr lang="en-US" sz="20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Insight:</a:t>
            </a:r>
            <a:r>
              <a:rPr lang="en-US" sz="2000" dirty="0"/>
              <a:t> Untapped economic value outside financial </a:t>
            </a:r>
            <a:r>
              <a:rPr lang="en-US" sz="2000" dirty="0" smtClean="0"/>
              <a:t>hubs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2000" b="1" dirty="0"/>
              <a:t>Solution:</a:t>
            </a:r>
            <a:r>
              <a:rPr lang="en-US" sz="2000" dirty="0"/>
              <a:t> Vernacular </a:t>
            </a:r>
            <a:r>
              <a:rPr lang="en-US" sz="2000" dirty="0" err="1"/>
              <a:t>fintech</a:t>
            </a:r>
            <a:r>
              <a:rPr lang="en-US" sz="2000" dirty="0"/>
              <a:t> &amp; low-cost QR/POS expansion.</a:t>
            </a:r>
          </a:p>
          <a:p>
            <a:r>
              <a:rPr lang="en-US" sz="2000" dirty="0"/>
              <a:t>Regional language UI</a:t>
            </a:r>
          </a:p>
          <a:p>
            <a:r>
              <a:rPr lang="en-US" sz="2000" dirty="0"/>
              <a:t>Affordable merchant POS kits</a:t>
            </a:r>
          </a:p>
          <a:p>
            <a:r>
              <a:rPr lang="en-US" sz="2000" dirty="0"/>
              <a:t>Partnerships with cooperative banks/NBFCs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6253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UPI-Tax Assist Platform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31286"/>
            <a:ext cx="103306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Problem:</a:t>
            </a:r>
            <a:r>
              <a:rPr lang="en-US" sz="2000" dirty="0"/>
              <a:t> Small merchants and freelancers face difficulty in tax filing despite transparent UPI records</a:t>
            </a:r>
            <a:r>
              <a:rPr lang="en-US" sz="20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Insight:</a:t>
            </a:r>
            <a:r>
              <a:rPr lang="en-US" sz="2000" dirty="0"/>
              <a:t> UPI adoption improved compliance &amp; boosted direct tax collections → merchants need </a:t>
            </a:r>
            <a:endParaRPr lang="en-US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 smtClean="0"/>
              <a:t>tools </a:t>
            </a:r>
            <a:r>
              <a:rPr lang="en-US" sz="2000" dirty="0"/>
              <a:t>to simplify GST/IT filing.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2000" b="1" dirty="0"/>
              <a:t>Solution:</a:t>
            </a:r>
            <a:r>
              <a:rPr lang="en-US" sz="2000" dirty="0"/>
              <a:t> Automated tax platform integrated with UPI.</a:t>
            </a:r>
          </a:p>
          <a:p>
            <a:r>
              <a:rPr lang="en-US" sz="2000" dirty="0"/>
              <a:t>Auto-books from UPI transactions</a:t>
            </a:r>
          </a:p>
          <a:p>
            <a:r>
              <a:rPr lang="en-US" sz="2000" dirty="0"/>
              <a:t>GST + income tax filing</a:t>
            </a:r>
          </a:p>
          <a:p>
            <a:r>
              <a:rPr lang="en-US" sz="2000" dirty="0"/>
              <a:t>Real-time liability tracker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11842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UPI Event Commerce Platform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418076"/>
            <a:ext cx="10190226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Problem:</a:t>
            </a:r>
            <a:r>
              <a:rPr lang="en-US" sz="2000" dirty="0"/>
              <a:t> Businesses miss out on peak UPI demand during festivals, sports events, and government </a:t>
            </a:r>
            <a:endParaRPr lang="en-US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 smtClean="0"/>
              <a:t>campaigns.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Insight:</a:t>
            </a:r>
            <a:r>
              <a:rPr lang="en-US" sz="2000" dirty="0"/>
              <a:t> Clear transaction spikes linked to festivals (Diwali, Ramadan, Holi), </a:t>
            </a:r>
            <a:endParaRPr lang="en-US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 smtClean="0"/>
              <a:t>sports </a:t>
            </a:r>
            <a:r>
              <a:rPr lang="en-US" sz="2000" dirty="0"/>
              <a:t>(Cricket WC</a:t>
            </a:r>
            <a:r>
              <a:rPr lang="en-US" sz="2000" dirty="0" smtClean="0"/>
              <a:t>), etc.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2000" b="1" dirty="0"/>
              <a:t>Solution:</a:t>
            </a:r>
            <a:r>
              <a:rPr lang="en-US" sz="2000" dirty="0"/>
              <a:t> Predictive event commerce + API marketplace.</a:t>
            </a:r>
          </a:p>
          <a:p>
            <a:r>
              <a:rPr lang="en-US" sz="2000" dirty="0"/>
              <a:t>Forecast demand surges</a:t>
            </a:r>
          </a:p>
          <a:p>
            <a:r>
              <a:rPr lang="en-US" sz="2000" dirty="0"/>
              <a:t>Plug &amp; play festive/sports offers</a:t>
            </a:r>
          </a:p>
          <a:p>
            <a:r>
              <a:rPr lang="en-US" sz="2000" dirty="0"/>
              <a:t>Cashback-driven merchant campaigns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0824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0BF7-CBC6-FBFC-63CC-6E4C1731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E36807-3ABB-FDB5-3622-738FEF5DE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2913779"/>
            <a:ext cx="9001462" cy="1655762"/>
          </a:xfrm>
        </p:spPr>
        <p:txBody>
          <a:bodyPr>
            <a:normAutofit/>
          </a:bodyPr>
          <a:lstStyle/>
          <a:p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1605658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50</TotalTime>
  <Words>1610</Words>
  <Application>Microsoft Office PowerPoint</Application>
  <PresentationFormat>Widescreen</PresentationFormat>
  <Paragraphs>107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Garamond</vt:lpstr>
      <vt:lpstr>Times New Roman</vt:lpstr>
      <vt:lpstr>Organic</vt:lpstr>
      <vt:lpstr>Unified Payments Interface (UPI): Evolution and Market Dynamics (2022–2025)</vt:lpstr>
      <vt:lpstr>2022: Establishing Dominance and Market Structure</vt:lpstr>
      <vt:lpstr>2022: Adoption &amp; Infrastructure Improvements</vt:lpstr>
      <vt:lpstr>2023: Growth Drivers and Internal Focus</vt:lpstr>
      <vt:lpstr>2024: The Regulatory Shockwave (Paytm Crisis)</vt:lpstr>
      <vt:lpstr>2025: Full Recovery and Future Trends</vt:lpstr>
      <vt:lpstr>Geographical Dynamics of UPI (2022–2025)</vt:lpstr>
      <vt:lpstr>1. Economic Activity is Highly Concentrated (Value)</vt:lpstr>
      <vt:lpstr>2. Volume Reflects Widespread Adoption (Count)</vt:lpstr>
      <vt:lpstr>3. Value and Volume are Correlated, but Different</vt:lpstr>
      <vt:lpstr>4. Consistent National Growth</vt:lpstr>
      <vt:lpstr>UPI's Impact on Direct Tax Collection (2018–2023) </vt:lpstr>
      <vt:lpstr>1. Digitization Driving Compliance and Growth</vt:lpstr>
      <vt:lpstr>2. Collection Resilience</vt:lpstr>
      <vt:lpstr>3. Conclusion: Indirect Boost to Tax Performance</vt:lpstr>
      <vt:lpstr>UPI Transaction Volume by Category</vt:lpstr>
      <vt:lpstr>1. Festive &amp; Seasonal Spikes </vt:lpstr>
      <vt:lpstr>2. Promotional &amp; Policy-Driven Changes</vt:lpstr>
      <vt:lpstr>3. Regulatory &amp; Economic Disruption</vt:lpstr>
      <vt:lpstr>Business Opportunities Emerging from UPI Trends (2022–2025)</vt:lpstr>
      <vt:lpstr>UPI Aggregator for SMEs</vt:lpstr>
      <vt:lpstr>Regional Fintech Expansion-as-a-Service</vt:lpstr>
      <vt:lpstr>UPI-Tax Assist Platform</vt:lpstr>
      <vt:lpstr>UPI Event Commerce Platform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Payments Interface (UPI): Evolution and Market Dynamics (2022–2025)</dc:title>
  <dc:creator>aneesh karunanidhi</dc:creator>
  <cp:lastModifiedBy>admin</cp:lastModifiedBy>
  <cp:revision>8</cp:revision>
  <dcterms:created xsi:type="dcterms:W3CDTF">2025-10-10T19:08:47Z</dcterms:created>
  <dcterms:modified xsi:type="dcterms:W3CDTF">2025-10-10T21:41:51Z</dcterms:modified>
</cp:coreProperties>
</file>